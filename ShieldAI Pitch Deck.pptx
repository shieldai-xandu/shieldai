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Montserrat SemiBold" panose="000007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D1EC4A-DDB1-4B99-8396-52A82EED908E}">
  <a:tblStyle styleId="{A7D1EC4A-DDB1-4B99-8396-52A82EED90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0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80535" y="2109787"/>
            <a:ext cx="7430928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SHIELDAI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524500" y="3214687"/>
            <a:ext cx="114300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557462" y="3538537"/>
            <a:ext cx="70770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virtual CISO every small business can finally afford.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57462" y="4319587"/>
            <a:ext cx="70770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Derrick Brooks | CEO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581025"/>
            <a:ext cx="554069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Problem</a:t>
            </a:r>
            <a:endParaRPr/>
          </a:p>
        </p:txBody>
      </p:sp>
      <p:pic>
        <p:nvPicPr>
          <p:cNvPr id="95" name="Google Shape;95;p14" title="ShieldAI login page.png"/>
          <p:cNvPicPr preferRelativeResize="0"/>
          <p:nvPr/>
        </p:nvPicPr>
        <p:blipFill rotWithShape="1">
          <a:blip r:embed="rId4">
            <a:alphaModFix/>
          </a:blip>
          <a:srcRect l="29634" r="29638"/>
          <a:stretch/>
        </p:blipFill>
        <p:spPr>
          <a:xfrm>
            <a:off x="6334125" y="9525"/>
            <a:ext cx="584834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1428750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Every business is a target. Almost none can afford protection.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19150" y="2434232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A full-time CISO costs </a:t>
            </a:r>
            <a:r>
              <a:rPr lang="en-US" sz="1350" b="1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$200K–$400K/year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19150" y="2834282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99% of US businesses are small/mid-sized — they can't afford that.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19150" y="3491507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Yet insurers, customers, and regulators now </a:t>
            </a:r>
            <a:r>
              <a:rPr lang="en-US" sz="1350" b="0" i="1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require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 a security program.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45328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85333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10557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2286000" y="2509837"/>
            <a:ext cx="8096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Cyber-insurance: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 Now demands proof of strict security controls to issue or renew policies.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2286000" y="3052762"/>
            <a:ext cx="8096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Enterprise Customers: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 Big clients are pushing heavy security questionnaires down to small vendors.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2286000" y="3852862"/>
            <a:ext cx="8096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Expanding Regulation: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 Compliance standards like HIPAA, CMMC, and state privacy laws carry real penalties.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2286000" y="4652962"/>
            <a:ext cx="8096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Disruption: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 AI finally makes expert-level guidance deliverable at a fraction of consulting costs.</a:t>
            </a:r>
            <a:endParaRPr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05075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04800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84810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64820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pressure just became unavoidable.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71725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66775" y="2371725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Living Program: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 Continuous security program, not a static, one-time PDF.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3076575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Explainable Metrics: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 Real, defensible security score based directly on the NIST framework.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66775" y="3781425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Turnkey Assets: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 Ready-to-use policies, prioritized roadmap, training, and compliance tracking.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66775" y="4486275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Accessible Cost: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 Priced sensibly as a subscription, completely disrupting traditional consulting.</a:t>
            </a:r>
            <a:endParaRPr/>
          </a:p>
        </p:txBody>
      </p:sp>
      <p:pic>
        <p:nvPicPr>
          <p:cNvPr id="127" name="Google Shape;127;p16" title="Acme Consulting Assessment.png"/>
          <p:cNvPicPr preferRelativeResize="0"/>
          <p:nvPr/>
        </p:nvPicPr>
        <p:blipFill rotWithShape="1">
          <a:blip r:embed="rId5">
            <a:alphaModFix/>
          </a:blip>
          <a:srcRect l="12490" r="12497"/>
          <a:stretch/>
        </p:blipFill>
        <p:spPr>
          <a:xfrm>
            <a:off x="6343650" y="2381250"/>
            <a:ext cx="5257800" cy="3314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81025" y="581025"/>
            <a:ext cx="11581447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ShieldAI — a virtual CISO, powered by AI, overseen by engineers.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39077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09562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0047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505325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581025" y="4067175"/>
            <a:ext cx="11029950" cy="38100"/>
          </a:xfrm>
          <a:prstGeom prst="rect">
            <a:avLst/>
          </a:prstGeom>
          <a:solidFill>
            <a:srgbClr val="1C2B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517605" y="4371975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Assess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81025" y="4743450"/>
            <a:ext cx="25367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Conversational intake combined with a structured NIST checklist.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3348614" y="2514600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Score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3412033" y="2886075"/>
            <a:ext cx="25367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Deterministic NIST CSF engine — producing exact, not guessed, results.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179622" y="4371975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Generate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243042" y="4743450"/>
            <a:ext cx="25367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Tailored policies, roadmap, training modules, and exec reports.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010631" y="2771775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Manage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074050" y="3143250"/>
            <a:ext cx="2536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Continuous monitoring paired with dedicated expert review.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305276" y="581025"/>
            <a:ext cx="11581447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Assessment → Real Score → Full Program → Ongoing Management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735112" y="39719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1128"/>
          </a:solidFill>
          <a:ln w="38100" cap="flat" cmpd="sng">
            <a:solidFill>
              <a:srgbClr val="00E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566121" y="39719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1128"/>
          </a:solidFill>
          <a:ln w="38100" cap="flat" cmpd="sng">
            <a:solidFill>
              <a:srgbClr val="00E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397129" y="39719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1128"/>
          </a:solidFill>
          <a:ln w="38100" cap="flat" cmpd="sng">
            <a:solidFill>
              <a:srgbClr val="00E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10228138" y="39719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1128"/>
          </a:solidFill>
          <a:ln w="38100" cap="flat" cmpd="sng">
            <a:solidFill>
              <a:srgbClr val="00E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title="Analyst screen.png"/>
          <p:cNvPicPr preferRelativeResize="0"/>
          <p:nvPr/>
        </p:nvPicPr>
        <p:blipFill rotWithShape="1">
          <a:blip r:embed="rId4">
            <a:alphaModFix/>
          </a:blip>
          <a:srcRect l="4784" r="4775"/>
          <a:stretch/>
        </p:blipFill>
        <p:spPr>
          <a:xfrm>
            <a:off x="6334125" y="2185987"/>
            <a:ext cx="5276851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81025" y="2185987"/>
            <a:ext cx="52768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Live Demonstration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66775" y="2719387"/>
            <a:ext cx="49911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Client Experience: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 Watch a client complete an assessment, receive their posture score, and instantly generate a tailored security program.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66775" y="3681412"/>
            <a:ext cx="49911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Platform Vision: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 See the Analyst Command Center where our engineers monitor active clients, triage live threats, and approve Mastermind AI suggestions.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See it work.</a:t>
            </a:r>
            <a:endParaRPr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73843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00462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28825"/>
            <a:ext cx="34226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028825"/>
            <a:ext cx="34226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88225" y="2028825"/>
            <a:ext cx="34226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495459" y="4362450"/>
            <a:ext cx="359373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Land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81025" y="4762500"/>
            <a:ext cx="34226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Low-cost self-serve assessment gets businesses in the door and proves immediate value.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4299060" y="4362450"/>
            <a:ext cx="359373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Expand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4384625" y="4762500"/>
            <a:ext cx="34226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Clients naturally graduate to managed vCISO plans yielding recurring, higher value revenue.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102660" y="4362450"/>
            <a:ext cx="359373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Scale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188225" y="4762500"/>
            <a:ext cx="34226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Our engineers combined with the AI console efficiently run multiple clients each.</a:t>
            </a:r>
            <a:endParaRPr/>
          </a:p>
        </p:txBody>
      </p:sp>
      <p:pic>
        <p:nvPicPr>
          <p:cNvPr id="178" name="Google Shape;178;p19" title="Acme Consulting Homepage.png"/>
          <p:cNvPicPr preferRelativeResize="0"/>
          <p:nvPr/>
        </p:nvPicPr>
        <p:blipFill rotWithShape="1">
          <a:blip r:embed="rId6">
            <a:alphaModFix/>
          </a:blip>
          <a:srcRect l="11902" r="11902"/>
          <a:stretch/>
        </p:blipFill>
        <p:spPr>
          <a:xfrm>
            <a:off x="590550" y="2038350"/>
            <a:ext cx="3403550" cy="212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title="Acme Consulting Assessment.png"/>
          <p:cNvPicPr preferRelativeResize="0"/>
          <p:nvPr/>
        </p:nvPicPr>
        <p:blipFill rotWithShape="1">
          <a:blip r:embed="rId7">
            <a:alphaModFix/>
          </a:blip>
          <a:srcRect l="12110" r="12110"/>
          <a:stretch/>
        </p:blipFill>
        <p:spPr>
          <a:xfrm>
            <a:off x="4394150" y="2038350"/>
            <a:ext cx="34035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title="Analyst Console.png"/>
          <p:cNvPicPr preferRelativeResize="0"/>
          <p:nvPr/>
        </p:nvPicPr>
        <p:blipFill rotWithShape="1">
          <a:blip r:embed="rId8">
            <a:alphaModFix/>
          </a:blip>
          <a:srcRect l="11942" r="11942"/>
          <a:stretch/>
        </p:blipFill>
        <p:spPr>
          <a:xfrm>
            <a:off x="8197750" y="2038350"/>
            <a:ext cx="340355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Land with self-serve. Expand to managed programs.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2566987" y="2000250"/>
            <a:ext cx="70580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AI does the heavy lifting, engineers add the high-value judgment.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81025" y="2724150"/>
            <a:ext cx="11029950" cy="3171825"/>
          </a:xfrm>
          <a:prstGeom prst="roundRect">
            <a:avLst>
              <a:gd name="adj" fmla="val 0"/>
            </a:avLst>
          </a:prstGeom>
          <a:solidFill>
            <a:srgbClr val="111D4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20"/>
          <p:cNvGraphicFramePr/>
          <p:nvPr>
            <p:extLst>
              <p:ext uri="{D42A27DB-BD31-4B8C-83A1-F6EECF244321}">
                <p14:modId xmlns:p14="http://schemas.microsoft.com/office/powerpoint/2010/main" val="1183510420"/>
              </p:ext>
            </p:extLst>
          </p:nvPr>
        </p:nvGraphicFramePr>
        <p:xfrm>
          <a:off x="581025" y="2724150"/>
          <a:ext cx="11020425" cy="3171800"/>
        </p:xfrm>
        <a:graphic>
          <a:graphicData uri="http://schemas.openxmlformats.org/drawingml/2006/table">
            <a:tbl>
              <a:tblPr firstRow="1" bandRow="1">
                <a:noFill/>
                <a:tableStyleId>{A7D1EC4A-DDB1-4B99-8396-52A82EED908E}</a:tableStyleId>
              </a:tblPr>
              <a:tblGrid>
                <a:gridCol w="2777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Price / Month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 Dynamics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Self-Serve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$129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wedge. Automated assessments, policies, and roadmap generation.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Guided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$599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Land-and-expand. Adds compliance tracking and periodic engineer reviews.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Managed vCISO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$1,950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program management. High gross margin powered by AI-amplified engineers.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0" name="Google Shape;190;p20"/>
          <p:cNvSpPr/>
          <p:nvPr/>
        </p:nvSpPr>
        <p:spPr>
          <a:xfrm>
            <a:off x="585787" y="3290887"/>
            <a:ext cx="2755106" cy="9525"/>
          </a:xfrm>
          <a:prstGeom prst="rect">
            <a:avLst/>
          </a:prstGeom>
          <a:solidFill>
            <a:srgbClr val="1C2B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340893" y="3290887"/>
            <a:ext cx="2203995" cy="9525"/>
          </a:xfrm>
          <a:prstGeom prst="rect">
            <a:avLst/>
          </a:prstGeom>
          <a:solidFill>
            <a:srgbClr val="1C2B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544889" y="3290887"/>
            <a:ext cx="6061323" cy="9525"/>
          </a:xfrm>
          <a:prstGeom prst="rect">
            <a:avLst/>
          </a:prstGeom>
          <a:solidFill>
            <a:srgbClr val="1C2B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85787" y="4157662"/>
            <a:ext cx="2755106" cy="9525"/>
          </a:xfrm>
          <a:prstGeom prst="rect">
            <a:avLst/>
          </a:prstGeom>
          <a:solidFill>
            <a:srgbClr val="1C2B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340893" y="4157662"/>
            <a:ext cx="2203995" cy="9525"/>
          </a:xfrm>
          <a:prstGeom prst="rect">
            <a:avLst/>
          </a:prstGeom>
          <a:solidFill>
            <a:srgbClr val="1C2B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544889" y="4157662"/>
            <a:ext cx="6061323" cy="9525"/>
          </a:xfrm>
          <a:prstGeom prst="rect">
            <a:avLst/>
          </a:prstGeom>
          <a:solidFill>
            <a:srgbClr val="1C2B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85787" y="5024437"/>
            <a:ext cx="2755106" cy="9525"/>
          </a:xfrm>
          <a:prstGeom prst="rect">
            <a:avLst/>
          </a:prstGeom>
          <a:solidFill>
            <a:srgbClr val="1C2B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340893" y="5024437"/>
            <a:ext cx="2203995" cy="9525"/>
          </a:xfrm>
          <a:prstGeom prst="rect">
            <a:avLst/>
          </a:prstGeom>
          <a:solidFill>
            <a:srgbClr val="1C2B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544889" y="5024437"/>
            <a:ext cx="6061323" cy="9525"/>
          </a:xfrm>
          <a:prstGeom prst="rect">
            <a:avLst/>
          </a:prstGeom>
          <a:solidFill>
            <a:srgbClr val="1C2B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Recurring revenue that grows with the relationship.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33650"/>
            <a:ext cx="5276850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876300" y="3019425"/>
            <a:ext cx="46863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33M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876300" y="4352925"/>
            <a:ext cx="46863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Small businesses in the US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334125" y="2819400"/>
            <a:ext cx="554069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Serviceable Target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334125" y="3267075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There are approximately </a:t>
            </a:r>
            <a:r>
              <a:rPr lang="en-US" sz="1350" b="1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5.8 million employer SMBs</a:t>
            </a: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 in the US forming our core market base.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334125" y="3924300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Targeting the 5–250 employee, regulated or insured segment forms our primary serviceable addressable market (SAM).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34125" y="4772025"/>
            <a:ext cx="5276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Even a 1% capture represents a massive ARR opportunity.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large, underserved market being forced to act.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62237"/>
            <a:ext cx="342260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662237"/>
            <a:ext cx="342260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2662237"/>
            <a:ext cx="342260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81025" y="2128837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The AI is the commodity; the system around it is the moat.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197113" y="3709987"/>
            <a:ext cx="219027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Proprietary Scoring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876300" y="4110037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A methodology based on NIST that is fully explainable and trusted by auditors and insurers alike.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015716" y="3709987"/>
            <a:ext cx="21602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Human-in-the-loop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4679900" y="4110037"/>
            <a:ext cx="28320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Expert oversight guarantees the output is trustworthy enough to sell, effectively limiting our liability.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8789312" y="3709987"/>
            <a:ext cx="22202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Compounding Data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483500" y="4110037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Every new client assessment and interaction systematically makes the entire platform smarter and stickier.</a:t>
            </a:r>
            <a:endParaRPr/>
          </a:p>
        </p:txBody>
      </p:sp>
      <p:pic>
        <p:nvPicPr>
          <p:cNvPr id="228" name="Google Shape;22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5075" y="30051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101" y="30051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9426" y="30051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Not a wrapper. A defensible system.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114425"/>
            <a:ext cx="5276850" cy="547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581025" y="1114425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Now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81025" y="2076450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Next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581025" y="2495550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Convert the analyst console from mockup to live; hire first security engineers.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81025" y="3295650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Then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581025" y="266700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this raise unlocks.</a:t>
            </a:r>
            <a:endParaRPr/>
          </a:p>
        </p:txBody>
      </p:sp>
      <p:pic>
        <p:nvPicPr>
          <p:cNvPr id="243" name="Google Shape;24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133475"/>
            <a:ext cx="1047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581025" y="1533525"/>
            <a:ext cx="5276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Client product is live (assessment, scoring, programs, policies).</a:t>
            </a:r>
            <a:endParaRPr/>
          </a:p>
        </p:txBody>
      </p:sp>
      <p:pic>
        <p:nvPicPr>
          <p:cNvPr id="245" name="Google Shape;24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955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314700"/>
            <a:ext cx="1047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581025" y="3714750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Deploy network agents, establish automated monitoring, and expand client base.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305276" y="1738312"/>
            <a:ext cx="11581447" cy="127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rPr>
              <a:t>We're raising $900k to reach Series A readiness.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1809750" y="3395662"/>
            <a:ext cx="857250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"A full-time CISO costs a quarter-million dollars a year. ShieldAI delivers that protection for the price of a subscription — and lets a handful of our engineers protect thousands of businesses."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581025" y="4891087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4C5E4"/>
                </a:solidFill>
                <a:latin typeface="Inter"/>
                <a:ea typeface="Inter"/>
                <a:cs typeface="Inter"/>
                <a:sym typeface="Inter"/>
              </a:rPr>
              <a:t>investors@shieldai-vciso.com | www.shieldai-vciso.com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</Words>
  <Application>Microsoft Office PowerPoint</Application>
  <PresentationFormat>Widescreen</PresentationFormat>
  <Paragraphs>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Montserrat</vt:lpstr>
      <vt:lpstr>Arial</vt:lpstr>
      <vt:lpstr>Inter SemiBold</vt:lpstr>
      <vt:lpstr>Calibri</vt:lpstr>
      <vt:lpstr>Montserrat SemiBold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Derrick Brooks</dc:creator>
  <cp:lastModifiedBy>Derrick Brooks</cp:lastModifiedBy>
  <cp:revision>1</cp:revision>
  <dcterms:modified xsi:type="dcterms:W3CDTF">2026-06-17T01:52:23Z</dcterms:modified>
</cp:coreProperties>
</file>